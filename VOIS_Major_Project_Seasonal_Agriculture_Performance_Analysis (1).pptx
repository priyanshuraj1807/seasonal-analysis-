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583914"/>
            <a:ext cx="4998720" cy="1000000"/>
          </a:xfrm>
        </p:spPr>
        <p:txBody>
          <a:bodyPr vert="horz" lIns="91440" tIns="45720" rIns="91440" bIns="45720" rtlCol="0" anchor="t">
            <a:normAutofit lnSpcReduction="10000"/>
          </a:bodyPr>
          <a:lstStyle/>
          <a:p>
            <a:pPr algn="l"/>
            <a:r>
              <a:rPr lang="en-US" sz="1800" b="0" dirty="0">
                <a:solidFill>
                  <a:schemeClr val="tx1"/>
                </a:solidFill>
              </a:rPr>
              <a:t>Priyanshu Raj</a:t>
            </a:r>
            <a:endParaRPr lang="en-IN" sz="1800" b="0" dirty="0">
              <a:solidFill>
                <a:schemeClr val="tx1"/>
              </a:solidFill>
            </a:endParaRPr>
          </a:p>
          <a:p>
            <a:pPr algn="l"/>
            <a:r>
              <a:rPr lang="en-US" sz="1800" b="0" dirty="0">
                <a:solidFill>
                  <a:schemeClr val="tx1"/>
                </a:solidFill>
              </a:rPr>
              <a:t>Maharishi University of Information Technology, Noida</a:t>
            </a:r>
            <a:endParaRPr lang="en-IN" sz="1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66933" y="2673408"/>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66306"/>
            <a:ext cx="3457811" cy="923330"/>
          </a:xfrm>
          <a:prstGeom prst="rect">
            <a:avLst/>
          </a:prstGeom>
          <a:noFill/>
        </p:spPr>
        <p:txBody>
          <a:bodyPr wrap="square" rtlCol="0">
            <a:spAutoFit/>
          </a:bodyPr>
          <a:lstStyle/>
          <a:p>
            <a:r>
              <a:rPr lang="en-US" b="1" dirty="0"/>
              <a:t>AICTE STU ID : STU6a6c53f02938f1785484272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sp>
        <p:nvSpPr>
          <p:cNvPr id="101" name="Description Body"/>
          <p:cNvSpPr txBox="1"/>
          <p:nvPr/>
        </p:nvSpPr>
        <p:spPr>
          <a:xfrm>
            <a:off x="660399" y="1900000"/>
            <a:ext cx="8100000" cy="4300000"/>
          </a:xfrm>
          <a:prstGeom prst="rect">
            <a:avLst/>
          </a:prstGeom>
          <a:noFill/>
        </p:spPr>
        <p:txBody>
          <a:bodyPr wrap="square">
            <a:normAutofit/>
          </a:bodyPr>
          <a:lstStyle/>
          <a:p>
            <a:pPr algn="just">
              <a:lnSpc>
                <a:spcPct val="130000"/>
              </a:lnSpc>
            </a:pPr>
            <a:r>
              <a:rPr lang="en-US" sz="1800" dirty="0">
                <a:solidFill>
                  <a:schemeClr val="tx1"/>
                </a:solidFill>
              </a:rPr>
              <a:t>This project analyzes a real-world agricultural dataset covering farming practices, environmental conditions, crop production, resource usage and economic performance recorded across different seasons and geographical regions.</a:t>
            </a:r>
          </a:p>
          <a:p>
            <a:pPr algn="just">
              <a:lnSpc>
                <a:spcPct val="130000"/>
              </a:lnSpc>
            </a:pPr>
            <a:r>
              <a:rPr lang="en-US" sz="1800" dirty="0">
                <a:solidFill>
                  <a:schemeClr val="tx1"/>
                </a:solidFill>
              </a:rPr>
              <a:t>Since agricultural performance is influenced by seasonal variation in weather, resource availability and market conditions, the raw data alone does not reveal how performance changes from one season to another.</a:t>
            </a:r>
          </a:p>
          <a:p>
            <a:pPr algn="just">
              <a:lnSpc>
                <a:spcPct val="130000"/>
              </a:lnSpc>
            </a:pPr>
            <a:r>
              <a:rPr lang="en-US" sz="1800" dirty="0">
                <a:solidFill>
                  <a:schemeClr val="tx1"/>
                </a:solidFill>
              </a:rPr>
              <a:t>The project cleans and explores the dataset, then applies statistical and visualization techniques in a Jupyter Notebook to uncover seasonal patterns, trends and relationships, concluding with evidence-based insights and recommendations to support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lnSpcReduction="10000"/>
          </a:bodyPr>
          <a:lstStyle/>
          <a:p>
            <a:pPr algn="just">
              <a:lnSpc>
                <a:spcPct val="150000"/>
              </a:lnSpc>
            </a:pPr>
            <a:r>
              <a:rPr lang="en-US" sz="2000" dirty="0">
                <a:solidFill>
                  <a:schemeClr val="tx1"/>
                </a:solidFill>
              </a:rPr>
              <a:t>Farmers and agricultural producers planning seasonal crop and resource decisions</a:t>
            </a:r>
          </a:p>
          <a:p>
            <a:pPr algn="just">
              <a:lnSpc>
                <a:spcPct val="150000"/>
              </a:lnSpc>
            </a:pPr>
            <a:r>
              <a:rPr lang="en-US" sz="2000" dirty="0">
                <a:solidFill>
                  <a:schemeClr val="tx1"/>
                </a:solidFill>
              </a:rPr>
              <a:t>Agricultural policy makers and planning bodies designing seasonal support programs</a:t>
            </a:r>
          </a:p>
          <a:p>
            <a:pPr algn="just">
              <a:lnSpc>
                <a:spcPct val="150000"/>
              </a:lnSpc>
            </a:pPr>
            <a:r>
              <a:rPr lang="en-US" sz="2000" dirty="0">
                <a:solidFill>
                  <a:schemeClr val="tx1"/>
                </a:solidFill>
              </a:rPr>
              <a:t>Agribusinesses and supply chain managers forecasting resource and market needs</a:t>
            </a:r>
          </a:p>
          <a:p>
            <a:pPr algn="just">
              <a:lnSpc>
                <a:spcPct val="150000"/>
              </a:lnSpc>
            </a:pPr>
            <a:r>
              <a:rPr lang="en-US" sz="2000" dirty="0">
                <a:solidFill>
                  <a:schemeClr val="tx1"/>
                </a:solidFill>
              </a:rPr>
              <a:t>Researchers and data analysts studying seasonal agricultural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 for data cleaning, analysis and scripting</a:t>
            </a:r>
          </a:p>
          <a:p>
            <a:pPr lvl="1">
              <a:lnSpc>
                <a:spcPct val="150000"/>
              </a:lnSpc>
            </a:pPr>
            <a:r>
              <a:rPr lang="en-US" dirty="0"/>
              <a:t>Pandas and NumPy for data preparation and manipulation</a:t>
            </a:r>
          </a:p>
          <a:p>
            <a:pPr lvl="1">
              <a:lnSpc>
                <a:spcPct val="150000"/>
              </a:lnSpc>
            </a:pPr>
            <a:r>
              <a:rPr lang="en-US" dirty="0"/>
              <a:t>Matplotlib and Seaborn for statistical visualization</a:t>
            </a:r>
          </a:p>
          <a:p>
            <a:pPr lvl="1">
              <a:lnSpc>
                <a:spcPct val="150000"/>
              </a:lnSpc>
            </a:pPr>
            <a:r>
              <a:rPr lang="en-US" dirty="0"/>
              <a:t>Jupyter Notebook for documenting the complete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B13DAA1-2370-FF4F-E8A9-063C6FB989B0}"/>
              </a:ext>
            </a:extLst>
          </p:cNvPr>
          <p:cNvPicPr>
            <a:picLocks noChangeAspect="1"/>
          </p:cNvPicPr>
          <p:nvPr/>
        </p:nvPicPr>
        <p:blipFill>
          <a:blip r:embed="rId3"/>
          <a:stretch>
            <a:fillRect/>
          </a:stretch>
        </p:blipFill>
        <p:spPr>
          <a:xfrm>
            <a:off x="540972" y="1275371"/>
            <a:ext cx="8497486" cy="48489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EDFA4A1-5239-E794-CE5A-4E293DC4C410}"/>
              </a:ext>
            </a:extLst>
          </p:cNvPr>
          <p:cNvPicPr>
            <a:picLocks noChangeAspect="1"/>
          </p:cNvPicPr>
          <p:nvPr/>
        </p:nvPicPr>
        <p:blipFill>
          <a:blip r:embed="rId3"/>
          <a:stretch>
            <a:fillRect/>
          </a:stretch>
        </p:blipFill>
        <p:spPr>
          <a:xfrm>
            <a:off x="426820" y="1201586"/>
            <a:ext cx="6647793" cy="540642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F549AE5-3942-A7AE-3A91-CC436F251CC3}"/>
              </a:ext>
            </a:extLst>
          </p:cNvPr>
          <p:cNvPicPr>
            <a:picLocks noChangeAspect="1"/>
          </p:cNvPicPr>
          <p:nvPr/>
        </p:nvPicPr>
        <p:blipFill>
          <a:blip r:embed="rId3"/>
          <a:stretch>
            <a:fillRect/>
          </a:stretch>
        </p:blipFill>
        <p:spPr>
          <a:xfrm>
            <a:off x="499254" y="1201586"/>
            <a:ext cx="7346068" cy="503730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3065040" cy="387776"/>
          </a:xfrm>
        </p:spPr>
        <p:txBody>
          <a:bodyPr>
            <a:normAutofit lnSpcReduction="10000"/>
          </a:bodyPr>
          <a:lstStyle/>
          <a:p>
            <a:pPr marL="0" indent="0">
              <a:buNone/>
            </a:pPr>
            <a:endParaRPr lang="en-IN" dirty="0"/>
          </a:p>
        </p:txBody>
      </p:sp>
      <p:pic>
        <p:nvPicPr>
          <p:cNvPr id="3" name="Picture 2">
            <a:extLst>
              <a:ext uri="{FF2B5EF4-FFF2-40B4-BE49-F238E27FC236}">
                <a16:creationId xmlns:a16="http://schemas.microsoft.com/office/drawing/2014/main" id="{BE49A112-903B-29D4-078D-2F16ED5622C1}"/>
              </a:ext>
            </a:extLst>
          </p:cNvPr>
          <p:cNvPicPr>
            <a:picLocks noChangeAspect="1"/>
          </p:cNvPicPr>
          <p:nvPr/>
        </p:nvPicPr>
        <p:blipFill>
          <a:blip r:embed="rId3"/>
          <a:stretch>
            <a:fillRect/>
          </a:stretch>
        </p:blipFill>
        <p:spPr>
          <a:xfrm>
            <a:off x="416672" y="1275371"/>
            <a:ext cx="8335538" cy="476316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Deeper Analysis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Wider Application</a:t>
            </a:r>
          </a:p>
        </p:txBody>
      </p:sp>
      <p:sp>
        <p:nvSpPr>
          <p:cNvPr id="102" name="Future Scope Body"/>
          <p:cNvSpPr txBox="1"/>
          <p:nvPr/>
        </p:nvSpPr>
        <p:spPr>
          <a:xfrm>
            <a:off x="675957" y="2200000"/>
            <a:ext cx="7013298" cy="4100000"/>
          </a:xfrm>
          <a:prstGeom prst="rect">
            <a:avLst/>
          </a:prstGeom>
          <a:noFill/>
        </p:spPr>
        <p:txBody>
          <a:bodyPr wrap="square">
            <a:normAutofit/>
          </a:bodyPr>
          <a:lstStyle/>
          <a:p>
            <a:pPr algn="just">
              <a:lnSpc>
                <a:spcPct val="140000"/>
              </a:lnSpc>
              <a:buFont typeface="Arial"/>
              <a:buChar char="•"/>
            </a:pPr>
            <a:r>
              <a:rPr lang="en-US" sz="1800" dirty="0">
                <a:solidFill>
                  <a:schemeClr val="tx1"/>
                </a:solidFill>
              </a:rPr>
              <a:t>Extend the analysis to include additional years and more regions for stronger seasonal trend validation</a:t>
            </a:r>
          </a:p>
          <a:p>
            <a:pPr algn="just">
              <a:lnSpc>
                <a:spcPct val="140000"/>
              </a:lnSpc>
              <a:buFont typeface="Arial"/>
              <a:buChar char="•"/>
            </a:pPr>
            <a:r>
              <a:rPr lang="en-US" sz="1800" dirty="0">
                <a:solidFill>
                  <a:schemeClr val="tx1"/>
                </a:solidFill>
              </a:rPr>
              <a:t>Incorporate predictive and machine learning models to forecast seasonal agricultural performance</a:t>
            </a:r>
          </a:p>
          <a:p>
            <a:pPr algn="just">
              <a:lnSpc>
                <a:spcPct val="140000"/>
              </a:lnSpc>
              <a:buFont typeface="Arial"/>
              <a:buChar char="•"/>
            </a:pPr>
            <a:r>
              <a:rPr lang="en-US" sz="1800" dirty="0">
                <a:solidFill>
                  <a:schemeClr val="tx1"/>
                </a:solidFill>
              </a:rPr>
              <a:t>Build an interactive dashboard so stakeholders can explore seasonal patterns in real time</a:t>
            </a:r>
          </a:p>
          <a:p>
            <a:pPr algn="just">
              <a:lnSpc>
                <a:spcPct val="140000"/>
              </a:lnSpc>
              <a:buFont typeface="Arial"/>
              <a:buChar char="•"/>
            </a:pPr>
            <a:r>
              <a:rPr lang="en-US" sz="1800" dirty="0">
                <a:solidFill>
                  <a:schemeClr val="tx1"/>
                </a:solidFill>
              </a:rPr>
              <a:t>Integrate live weather and market data to support more timely agricultural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5357366-BC10-7EB0-7A3E-77A7ED180EB6}"/>
              </a:ext>
            </a:extLst>
          </p:cNvPr>
          <p:cNvSpPr txBox="1"/>
          <p:nvPr/>
        </p:nvSpPr>
        <p:spPr>
          <a:xfrm>
            <a:off x="587829" y="1275371"/>
            <a:ext cx="6502486" cy="369332"/>
          </a:xfrm>
          <a:prstGeom prst="rect">
            <a:avLst/>
          </a:prstGeom>
          <a:noFill/>
        </p:spPr>
        <p:txBody>
          <a:bodyPr wrap="none" rtlCol="0">
            <a:spAutoFit/>
          </a:bodyPr>
          <a:lstStyle/>
          <a:p>
            <a:r>
              <a:rPr lang="en-IN" dirty="0"/>
              <a:t>https://github.com/PriyanshuRaj1807/Seasonal-Analysis-.git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3" name="Certificate Image"/>
          <p:cNvPicPr>
            <a:picLocks noChangeAspect="1"/>
          </p:cNvPicPr>
          <p:nvPr/>
        </p:nvPicPr>
        <p:blipFill>
          <a:blip r:embed="rId3"/>
          <a:stretch>
            <a:fillRect/>
          </a:stretch>
        </p:blipFill>
        <p:spPr>
          <a:xfrm>
            <a:off x="1226390" y="1751420"/>
            <a:ext cx="6081620" cy="4300000"/>
          </a:xfrm>
          <a:prstGeom prst="rect">
            <a:avLst/>
          </a:prstGeom>
          <a:ln w="12700">
            <a:solidFill>
              <a:schemeClr val="tx1">
                <a:lumMod val="35000"/>
                <a:lumOff val="65000"/>
              </a:schemeClr>
            </a:solidFill>
          </a:ln>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1365</TotalTime>
  <Words>388</Words>
  <Application>Microsoft Office PowerPoint</Application>
  <PresentationFormat>Widescreen</PresentationFormat>
  <Paragraphs>39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Priyanshu Raj</cp:lastModifiedBy>
  <cp:revision>100</cp:revision>
  <dcterms:created xsi:type="dcterms:W3CDTF">2021-07-11T13:13:15Z</dcterms:created>
  <dcterms:modified xsi:type="dcterms:W3CDTF">2026-09-15T19:19:59Z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