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8"/>
  </p:notesMasterIdLst>
  <p:handoutMasterIdLst>
    <p:handoutMasterId r:id="rId19"/>
  </p:handoutMasterIdLst>
  <p:sldIdLst>
    <p:sldId id="338" r:id="rId5"/>
    <p:sldId id="327" r:id="rId6"/>
    <p:sldId id="315" r:id="rId7"/>
    <p:sldId id="329" r:id="rId8"/>
    <p:sldId id="302" r:id="rId9"/>
    <p:sldId id="339" r:id="rId10"/>
    <p:sldId id="340" r:id="rId11"/>
    <p:sldId id="344" r:id="rId12"/>
    <p:sldId id="345" r:id="rId13"/>
    <p:sldId id="341" r:id="rId14"/>
    <p:sldId id="342" r:id="rId15"/>
    <p:sldId id="343" r:id="rId16"/>
    <p:sldId id="30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9/16/2026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9/16/2026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9/16/2026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8364" y="3583914"/>
            <a:ext cx="4998720" cy="1000000"/>
          </a:xfrm>
        </p:spPr>
        <p:txBody>
          <a:bodyPr vert="horz" lIns="91440" tIns="45720" rIns="91440" bIns="45720" rtlCol="0" anchor="t">
            <a:normAutofit lnSpcReduction="10000"/>
          </a:bodyPr>
          <a:lstStyle/>
          <a:p>
            <a:pPr algn="l"/>
            <a:r>
              <a:rPr lang="en-US" sz="1800" b="0" dirty="0">
                <a:solidFill>
                  <a:schemeClr val="tx1"/>
                </a:solidFill>
              </a:rPr>
              <a:t>Priyanshu Raj</a:t>
            </a:r>
            <a:endParaRPr lang="en-IN" sz="1800" b="0" dirty="0">
              <a:solidFill>
                <a:schemeClr val="tx1"/>
              </a:solidFill>
            </a:endParaRPr>
          </a:p>
          <a:p>
            <a:pPr algn="l"/>
            <a:r>
              <a:rPr lang="en-US" sz="1800" b="0" dirty="0">
                <a:solidFill>
                  <a:schemeClr val="tx1"/>
                </a:solidFill>
              </a:rPr>
              <a:t>Maharishi University of Information Technology, Noida</a:t>
            </a:r>
            <a:endParaRPr lang="en-IN" sz="1800"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66933" y="2673408"/>
            <a:ext cx="4998720" cy="743448"/>
          </a:xfrm>
        </p:spPr>
        <p:txBody>
          <a:bodyPr>
            <a:normAutofit fontScale="90000"/>
          </a:bodyPr>
          <a:lstStyle/>
          <a:p>
            <a:r>
              <a:rPr lang="en-GB" sz="3200"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957" y="4566306"/>
            <a:ext cx="3457811" cy="923330"/>
          </a:xfrm>
          <a:prstGeom prst="rect">
            <a:avLst/>
          </a:prstGeom>
          <a:noFill/>
        </p:spPr>
        <p:txBody>
          <a:bodyPr wrap="square" rtlCol="0">
            <a:spAutoFit/>
          </a:bodyPr>
          <a:lstStyle/>
          <a:p>
            <a:r>
              <a:rPr lang="en-US" b="1" dirty="0"/>
              <a:t>AICTE STU ID : STU6a6c53f02938f1785484272</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a:bodyPr>
          <a:lstStyle/>
          <a:p>
            <a:r>
              <a:rPr lang="en-GB" dirty="0"/>
              <a:t>Project Description</a:t>
            </a:r>
            <a:endParaRPr lang="en-IN" dirty="0"/>
          </a:p>
        </p:txBody>
      </p:sp>
      <p:sp>
        <p:nvSpPr>
          <p:cNvPr id="101" name="Description Body"/>
          <p:cNvSpPr txBox="1"/>
          <p:nvPr/>
        </p:nvSpPr>
        <p:spPr>
          <a:xfrm>
            <a:off x="660399" y="1900000"/>
            <a:ext cx="8100000" cy="4300000"/>
          </a:xfrm>
          <a:prstGeom prst="rect">
            <a:avLst/>
          </a:prstGeom>
          <a:noFill/>
        </p:spPr>
        <p:txBody>
          <a:bodyPr wrap="square">
            <a:normAutofit/>
          </a:bodyPr>
          <a:lstStyle/>
          <a:p>
            <a:pPr algn="just">
              <a:lnSpc>
                <a:spcPct val="130000"/>
              </a:lnSpc>
            </a:pPr>
            <a:r>
              <a:rPr lang="en-US" sz="1800" dirty="0">
                <a:solidFill>
                  <a:schemeClr val="tx1"/>
                </a:solidFill>
              </a:rPr>
              <a:t>This project analyzes a real-world agricultural dataset covering farming practices, environmental conditions, crop production, resource usage and economic performance recorded across different seasons and geographical regions.</a:t>
            </a:r>
          </a:p>
          <a:p>
            <a:pPr algn="just">
              <a:lnSpc>
                <a:spcPct val="130000"/>
              </a:lnSpc>
            </a:pPr>
            <a:r>
              <a:rPr lang="en-US" sz="1800" dirty="0">
                <a:solidFill>
                  <a:schemeClr val="tx1"/>
                </a:solidFill>
              </a:rPr>
              <a:t>Since agricultural performance is influenced by seasonal variation in weather, resource availability and market conditions, the raw data alone does not reveal how performance changes from one season to another.</a:t>
            </a:r>
          </a:p>
          <a:p>
            <a:pPr algn="just">
              <a:lnSpc>
                <a:spcPct val="130000"/>
              </a:lnSpc>
            </a:pPr>
            <a:r>
              <a:rPr lang="en-US" sz="1800" dirty="0">
                <a:solidFill>
                  <a:schemeClr val="tx1"/>
                </a:solidFill>
              </a:rPr>
              <a:t>The project cleans and explores the dataset, then applies statistical and visualization techniques in a Jupyter Notebook to uncover seasonal patterns, trends and relationships, concluding with evidence-based insights and recommendations to support seasonal agricultural planning.</a:t>
            </a: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lnSpcReduction="10000"/>
          </a:bodyPr>
          <a:lstStyle/>
          <a:p>
            <a:pPr algn="just">
              <a:lnSpc>
                <a:spcPct val="150000"/>
              </a:lnSpc>
            </a:pPr>
            <a:r>
              <a:rPr lang="en-US" sz="2000" dirty="0">
                <a:solidFill>
                  <a:schemeClr val="tx1"/>
                </a:solidFill>
              </a:rPr>
              <a:t>Farmers and agricultural producers planning seasonal crop and resource decisions</a:t>
            </a:r>
          </a:p>
          <a:p>
            <a:pPr algn="just">
              <a:lnSpc>
                <a:spcPct val="150000"/>
              </a:lnSpc>
            </a:pPr>
            <a:r>
              <a:rPr lang="en-US" sz="2000" dirty="0">
                <a:solidFill>
                  <a:schemeClr val="tx1"/>
                </a:solidFill>
              </a:rPr>
              <a:t>Agricultural policy makers and planning bodies designing seasonal support programs</a:t>
            </a:r>
          </a:p>
          <a:p>
            <a:pPr algn="just">
              <a:lnSpc>
                <a:spcPct val="150000"/>
              </a:lnSpc>
            </a:pPr>
            <a:r>
              <a:rPr lang="en-US" sz="2000" dirty="0">
                <a:solidFill>
                  <a:schemeClr val="tx1"/>
                </a:solidFill>
              </a:rPr>
              <a:t>Agribusinesses and supply chain managers forecasting resource and market needs</a:t>
            </a:r>
          </a:p>
          <a:p>
            <a:pPr algn="just">
              <a:lnSpc>
                <a:spcPct val="150000"/>
              </a:lnSpc>
            </a:pPr>
            <a:r>
              <a:rPr lang="en-US" sz="2000" dirty="0">
                <a:solidFill>
                  <a:schemeClr val="tx1"/>
                </a:solidFill>
              </a:rPr>
              <a:t>Researchers and data analysts studying seasonal agricultural trends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r>
              <a:rPr lang="en-US" dirty="0"/>
              <a:t>Python for data cleaning, analysis and scripting</a:t>
            </a:r>
          </a:p>
          <a:p>
            <a:pPr lvl="1">
              <a:lnSpc>
                <a:spcPct val="150000"/>
              </a:lnSpc>
            </a:pPr>
            <a:r>
              <a:rPr lang="en-US" dirty="0"/>
              <a:t>Pandas and NumPy for data preparation and manipulation</a:t>
            </a:r>
          </a:p>
          <a:p>
            <a:pPr lvl="1">
              <a:lnSpc>
                <a:spcPct val="150000"/>
              </a:lnSpc>
            </a:pPr>
            <a:r>
              <a:rPr lang="en-US" dirty="0"/>
              <a:t>Matplotlib and Seaborn for statistical visualization</a:t>
            </a:r>
          </a:p>
          <a:p>
            <a:pPr lvl="1">
              <a:lnSpc>
                <a:spcPct val="150000"/>
              </a:lnSpc>
            </a:pPr>
            <a:r>
              <a:rPr lang="en-US" dirty="0"/>
              <a:t>Jupyter Notebook for documenting the complete analysis</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BB13DAA1-2370-FF4F-E8A9-063C6FB989B0}"/>
              </a:ext>
            </a:extLst>
          </p:cNvPr>
          <p:cNvPicPr>
            <a:picLocks noChangeAspect="1"/>
          </p:cNvPicPr>
          <p:nvPr/>
        </p:nvPicPr>
        <p:blipFill>
          <a:blip r:embed="rId3"/>
          <a:stretch>
            <a:fillRect/>
          </a:stretch>
        </p:blipFill>
        <p:spPr>
          <a:xfrm>
            <a:off x="540972" y="1275371"/>
            <a:ext cx="8497486" cy="4848902"/>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CEDFA4A1-5239-E794-CE5A-4E293DC4C410}"/>
              </a:ext>
            </a:extLst>
          </p:cNvPr>
          <p:cNvPicPr>
            <a:picLocks noChangeAspect="1"/>
          </p:cNvPicPr>
          <p:nvPr/>
        </p:nvPicPr>
        <p:blipFill>
          <a:blip r:embed="rId3"/>
          <a:stretch>
            <a:fillRect/>
          </a:stretch>
        </p:blipFill>
        <p:spPr>
          <a:xfrm>
            <a:off x="426820" y="1201586"/>
            <a:ext cx="6647793" cy="540642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FF549AE5-3942-A7AE-3A91-CC436F251CC3}"/>
              </a:ext>
            </a:extLst>
          </p:cNvPr>
          <p:cNvPicPr>
            <a:picLocks noChangeAspect="1"/>
          </p:cNvPicPr>
          <p:nvPr/>
        </p:nvPicPr>
        <p:blipFill>
          <a:blip r:embed="rId3"/>
          <a:stretch>
            <a:fillRect/>
          </a:stretch>
        </p:blipFill>
        <p:spPr>
          <a:xfrm>
            <a:off x="499254" y="1201586"/>
            <a:ext cx="7346068" cy="5037304"/>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3065040" cy="387776"/>
          </a:xfrm>
        </p:spPr>
        <p:txBody>
          <a:bodyPr>
            <a:normAutofit lnSpcReduction="10000"/>
          </a:bodyPr>
          <a:lstStyle/>
          <a:p>
            <a:pPr marL="0" indent="0">
              <a:buNone/>
            </a:pPr>
            <a:endParaRPr lang="en-IN" dirty="0"/>
          </a:p>
        </p:txBody>
      </p:sp>
      <p:pic>
        <p:nvPicPr>
          <p:cNvPr id="3" name="Picture 2">
            <a:extLst>
              <a:ext uri="{FF2B5EF4-FFF2-40B4-BE49-F238E27FC236}">
                <a16:creationId xmlns:a16="http://schemas.microsoft.com/office/drawing/2014/main" id="{BE49A112-903B-29D4-078D-2F16ED5622C1}"/>
              </a:ext>
            </a:extLst>
          </p:cNvPr>
          <p:cNvPicPr>
            <a:picLocks noChangeAspect="1"/>
          </p:cNvPicPr>
          <p:nvPr/>
        </p:nvPicPr>
        <p:blipFill>
          <a:blip r:embed="rId3"/>
          <a:stretch>
            <a:fillRect/>
          </a:stretch>
        </p:blipFill>
        <p:spPr>
          <a:xfrm>
            <a:off x="416672" y="1275371"/>
            <a:ext cx="8335538" cy="4763165"/>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1800" b="1" dirty="0"/>
              <a:t>Deeper Analysis</a:t>
            </a: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1800" b="1" dirty="0"/>
              <a:t>Wider Application</a:t>
            </a:r>
          </a:p>
        </p:txBody>
      </p:sp>
      <p:sp>
        <p:nvSpPr>
          <p:cNvPr id="102" name="Future Scope Body"/>
          <p:cNvSpPr txBox="1"/>
          <p:nvPr/>
        </p:nvSpPr>
        <p:spPr>
          <a:xfrm>
            <a:off x="675957" y="2200000"/>
            <a:ext cx="7013298" cy="4100000"/>
          </a:xfrm>
          <a:prstGeom prst="rect">
            <a:avLst/>
          </a:prstGeom>
          <a:noFill/>
        </p:spPr>
        <p:txBody>
          <a:bodyPr wrap="square">
            <a:normAutofit/>
          </a:bodyPr>
          <a:lstStyle/>
          <a:p>
            <a:pPr algn="just">
              <a:lnSpc>
                <a:spcPct val="140000"/>
              </a:lnSpc>
              <a:buFont typeface="Arial"/>
              <a:buChar char="•"/>
            </a:pPr>
            <a:r>
              <a:rPr lang="en-US" sz="1800" dirty="0">
                <a:solidFill>
                  <a:schemeClr val="tx1"/>
                </a:solidFill>
              </a:rPr>
              <a:t>Extend the analysis to include additional years and more regions for stronger seasonal trend validation</a:t>
            </a:r>
          </a:p>
          <a:p>
            <a:pPr algn="just">
              <a:lnSpc>
                <a:spcPct val="140000"/>
              </a:lnSpc>
              <a:buFont typeface="Arial"/>
              <a:buChar char="•"/>
            </a:pPr>
            <a:r>
              <a:rPr lang="en-US" sz="1800" dirty="0">
                <a:solidFill>
                  <a:schemeClr val="tx1"/>
                </a:solidFill>
              </a:rPr>
              <a:t>Incorporate predictive and machine learning models to forecast seasonal agricultural performance</a:t>
            </a:r>
          </a:p>
          <a:p>
            <a:pPr algn="just">
              <a:lnSpc>
                <a:spcPct val="140000"/>
              </a:lnSpc>
              <a:buFont typeface="Arial"/>
              <a:buChar char="•"/>
            </a:pPr>
            <a:r>
              <a:rPr lang="en-US" sz="1800" dirty="0">
                <a:solidFill>
                  <a:schemeClr val="tx1"/>
                </a:solidFill>
              </a:rPr>
              <a:t>Build an interactive dashboard so stakeholders can explore seasonal patterns in real time</a:t>
            </a:r>
          </a:p>
          <a:p>
            <a:pPr algn="just">
              <a:lnSpc>
                <a:spcPct val="140000"/>
              </a:lnSpc>
              <a:buFont typeface="Arial"/>
              <a:buChar char="•"/>
            </a:pPr>
            <a:r>
              <a:rPr lang="en-US" sz="1800" dirty="0">
                <a:solidFill>
                  <a:schemeClr val="tx1"/>
                </a:solidFill>
              </a:rPr>
              <a:t>Integrate live weather and market data to support more timely agricultural planning</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03" name="Certificate Image"/>
          <p:cNvPicPr>
            <a:picLocks noChangeAspect="1"/>
          </p:cNvPicPr>
          <p:nvPr/>
        </p:nvPicPr>
        <p:blipFill>
          <a:blip r:embed="rId3"/>
          <a:stretch>
            <a:fillRect/>
          </a:stretch>
        </p:blipFill>
        <p:spPr>
          <a:xfrm>
            <a:off x="1226390" y="1751420"/>
            <a:ext cx="6081620" cy="4300000"/>
          </a:xfrm>
          <a:prstGeom prst="rect">
            <a:avLst/>
          </a:prstGeom>
          <a:ln w="12700">
            <a:solidFill>
              <a:schemeClr val="tx1">
                <a:lumMod val="35000"/>
                <a:lumOff val="65000"/>
              </a:schemeClr>
            </a:solidFill>
          </a:ln>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1362</TotalTime>
  <Words>377</Words>
  <Application>Microsoft Office PowerPoint</Application>
  <PresentationFormat>Widescreen</PresentationFormat>
  <Paragraphs>38</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Trebuchet MS</vt:lpstr>
      <vt:lpstr>Wingdings</vt:lpstr>
      <vt:lpstr>Wingdings 3</vt:lpstr>
      <vt:lpstr>Facet</vt:lpstr>
      <vt:lpstr>Seasonal Agriculture Performance Analysis</vt:lpstr>
      <vt:lpstr>PROBLEM  STATEMENT</vt:lpstr>
      <vt:lpstr>Project Description</vt:lpstr>
      <vt:lpstr>WHO ARE THE END USERS?</vt:lpstr>
      <vt:lpstr>Technology Used</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Priyanshu Raj</cp:lastModifiedBy>
  <cp:revision>99</cp:revision>
  <dcterms:created xsi:type="dcterms:W3CDTF">2021-07-11T13:13:15Z</dcterms:created>
  <dcterms:modified xsi:type="dcterms:W3CDTF">2026-09-15T19:13:42Z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